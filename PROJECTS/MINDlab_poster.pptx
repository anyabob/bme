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8" r:id="rId2"/>
    <p:sldId id="260" r:id="rId3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4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27336" userDrawn="1">
          <p15:clr>
            <a:srgbClr val="A4A3A4"/>
          </p15:clr>
        </p15:guide>
        <p15:guide id="4" orient="horz" pos="20448" userDrawn="1">
          <p15:clr>
            <a:srgbClr val="A4A3A4"/>
          </p15:clr>
        </p15:guide>
        <p15:guide id="5" pos="6648" userDrawn="1">
          <p15:clr>
            <a:srgbClr val="A4A3A4"/>
          </p15:clr>
        </p15:guide>
        <p15:guide id="6" pos="20736" userDrawn="1">
          <p15:clr>
            <a:srgbClr val="A4A3A4"/>
          </p15:clr>
        </p15:guide>
        <p15:guide id="7" orient="horz" pos="104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3381"/>
    <p:restoredTop sz="94725"/>
  </p:normalViewPr>
  <p:slideViewPr>
    <p:cSldViewPr snapToGrid="0">
      <p:cViewPr>
        <p:scale>
          <a:sx n="42" d="100"/>
          <a:sy n="42" d="100"/>
        </p:scale>
        <p:origin x="960" y="144"/>
      </p:cViewPr>
      <p:guideLst>
        <p:guide orient="horz" pos="264"/>
        <p:guide pos="264"/>
        <p:guide pos="27336"/>
        <p:guide orient="horz" pos="20448"/>
        <p:guide pos="6648"/>
        <p:guide pos="20736"/>
        <p:guide orient="horz" pos="10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9DF27-04C0-F044-BED4-418275EA4AF0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B47D2-C282-CF46-8512-1A8433723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3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B47D2-C282-CF46-8512-1A84337230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8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1276E-CC0D-4F42-9DEA-1BA2654D0ED6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CD7-6364-3E40-94C8-55AB36237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31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1276E-CC0D-4F42-9DEA-1BA2654D0ED6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CD7-6364-3E40-94C8-55AB36237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47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1276E-CC0D-4F42-9DEA-1BA2654D0ED6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CD7-6364-3E40-94C8-55AB36237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41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1276E-CC0D-4F42-9DEA-1BA2654D0ED6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CD7-6364-3E40-94C8-55AB36237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86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1276E-CC0D-4F42-9DEA-1BA2654D0ED6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CD7-6364-3E40-94C8-55AB36237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07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1276E-CC0D-4F42-9DEA-1BA2654D0ED6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CD7-6364-3E40-94C8-55AB36237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9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1276E-CC0D-4F42-9DEA-1BA2654D0ED6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CD7-6364-3E40-94C8-55AB36237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78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1276E-CC0D-4F42-9DEA-1BA2654D0ED6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CD7-6364-3E40-94C8-55AB36237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0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1276E-CC0D-4F42-9DEA-1BA2654D0ED6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CD7-6364-3E40-94C8-55AB36237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95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1276E-CC0D-4F42-9DEA-1BA2654D0ED6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CD7-6364-3E40-94C8-55AB36237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052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1276E-CC0D-4F42-9DEA-1BA2654D0ED6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0CD7-6364-3E40-94C8-55AB36237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6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1276E-CC0D-4F42-9DEA-1BA2654D0ED6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AD0CD7-6364-3E40-94C8-55AB36237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97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jp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2AF3F6-46BE-C8F3-DA24-918C97298114}"/>
              </a:ext>
            </a:extLst>
          </p:cNvPr>
          <p:cNvSpPr/>
          <p:nvPr/>
        </p:nvSpPr>
        <p:spPr>
          <a:xfrm>
            <a:off x="419100" y="522933"/>
            <a:ext cx="42944273" cy="39692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74D0D7-757E-20DD-9DEA-337B3AE2B7D1}"/>
              </a:ext>
            </a:extLst>
          </p:cNvPr>
          <p:cNvSpPr/>
          <p:nvPr/>
        </p:nvSpPr>
        <p:spPr>
          <a:xfrm>
            <a:off x="449957" y="5339370"/>
            <a:ext cx="10123170" cy="11064240"/>
          </a:xfrm>
          <a:prstGeom prst="rect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038613-EDF8-4F98-6392-B3C0315C934F}"/>
              </a:ext>
            </a:extLst>
          </p:cNvPr>
          <p:cNvSpPr/>
          <p:nvPr/>
        </p:nvSpPr>
        <p:spPr>
          <a:xfrm>
            <a:off x="449956" y="4598213"/>
            <a:ext cx="10123170" cy="91846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BACKGROUND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F32CA0-C4DF-D853-EAE1-C7DFF0D77D6F}"/>
              </a:ext>
            </a:extLst>
          </p:cNvPr>
          <p:cNvSpPr txBox="1"/>
          <p:nvPr/>
        </p:nvSpPr>
        <p:spPr>
          <a:xfrm>
            <a:off x="608571" y="5426246"/>
            <a:ext cx="9940778" cy="497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this study matters:</a:t>
            </a:r>
            <a:endParaRPr lang="en-US" sz="44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900" dirty="0">
                <a:latin typeface="Calibri" panose="020F0502020204030204" pitchFamily="34" charset="0"/>
                <a:cs typeface="Calibri" panose="020F0502020204030204" pitchFamily="34" charset="0"/>
              </a:rPr>
              <a:t>Return to community is challenging for many stroke survivors.</a:t>
            </a:r>
            <a:r>
              <a:rPr lang="en-US" sz="3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3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900" dirty="0">
                <a:latin typeface="Calibri" panose="020F0502020204030204" pitchFamily="34" charset="0"/>
                <a:cs typeface="Calibri" panose="020F0502020204030204" pitchFamily="34" charset="0"/>
              </a:rPr>
              <a:t>Current clinical assessment of physical activity(PA) behaviors rely on self-report.</a:t>
            </a:r>
            <a:r>
              <a:rPr lang="en-US" sz="3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3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900" dirty="0">
                <a:latin typeface="Calibri" panose="020F0502020204030204" pitchFamily="34" charset="0"/>
                <a:cs typeface="Calibri" panose="020F0502020204030204" pitchFamily="34" charset="0"/>
              </a:rPr>
              <a:t>Objective data of PA in real-word environments can provide valuable insights to help maximize PA participation.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37F9BE-8ACC-D38D-7863-C5F4FC443EA5}"/>
              </a:ext>
            </a:extLst>
          </p:cNvPr>
          <p:cNvSpPr/>
          <p:nvPr/>
        </p:nvSpPr>
        <p:spPr>
          <a:xfrm>
            <a:off x="449955" y="10557788"/>
            <a:ext cx="10060805" cy="86018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STUDY PURPOSE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70C95B-3F2C-71FD-808D-D74A4DBF6A1D}"/>
              </a:ext>
            </a:extLst>
          </p:cNvPr>
          <p:cNvSpPr/>
          <p:nvPr/>
        </p:nvSpPr>
        <p:spPr>
          <a:xfrm>
            <a:off x="426179" y="15724091"/>
            <a:ext cx="10123170" cy="1631898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08BB27-B973-6457-6BB9-A85C1BF5FA41}"/>
              </a:ext>
            </a:extLst>
          </p:cNvPr>
          <p:cNvSpPr txBox="1"/>
          <p:nvPr/>
        </p:nvSpPr>
        <p:spPr>
          <a:xfrm>
            <a:off x="536417" y="11505008"/>
            <a:ext cx="98681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900" dirty="0">
                <a:latin typeface="Calibri" panose="020F0502020204030204" pitchFamily="34" charset="0"/>
                <a:cs typeface="Calibri" panose="020F0502020204030204" pitchFamily="34" charset="0"/>
              </a:rPr>
              <a:t>To explore the geographical extent of PA intensity in the community using  global positioning systems(GPS) and Actigraph GT3X+ sensors among four community dwelling stroke survivors.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4A3C427-C127-4732-A477-07324D62092D}"/>
              </a:ext>
            </a:extLst>
          </p:cNvPr>
          <p:cNvSpPr/>
          <p:nvPr/>
        </p:nvSpPr>
        <p:spPr>
          <a:xfrm>
            <a:off x="10940053" y="4526280"/>
            <a:ext cx="7589520" cy="657846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0FC59BE-36F3-4A3B-7D42-0FF2091E6F7E}"/>
              </a:ext>
            </a:extLst>
          </p:cNvPr>
          <p:cNvSpPr/>
          <p:nvPr/>
        </p:nvSpPr>
        <p:spPr>
          <a:xfrm>
            <a:off x="19148148" y="4619805"/>
            <a:ext cx="7589520" cy="6471937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2CA5DB-D23D-CA15-1A6C-7E0F1B50D7D3}"/>
              </a:ext>
            </a:extLst>
          </p:cNvPr>
          <p:cNvSpPr/>
          <p:nvPr/>
        </p:nvSpPr>
        <p:spPr>
          <a:xfrm>
            <a:off x="11050449" y="11427618"/>
            <a:ext cx="7589520" cy="586885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01519E4-7076-16C4-8FBF-30D71E9B3250}"/>
              </a:ext>
            </a:extLst>
          </p:cNvPr>
          <p:cNvSpPr/>
          <p:nvPr/>
        </p:nvSpPr>
        <p:spPr>
          <a:xfrm>
            <a:off x="19148147" y="11505008"/>
            <a:ext cx="7589520" cy="5747347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AF0630C-36AC-0E32-C05C-D90666A99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0" t="5738" r="7336" b="5148"/>
          <a:stretch>
            <a:fillRect/>
          </a:stretch>
        </p:blipFill>
        <p:spPr>
          <a:xfrm>
            <a:off x="10952569" y="4615719"/>
            <a:ext cx="7589520" cy="657846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1505A4F-B05E-D0F0-5F32-A3696B4026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0" t="5738" r="6899" b="4979"/>
          <a:stretch>
            <a:fillRect/>
          </a:stretch>
        </p:blipFill>
        <p:spPr>
          <a:xfrm>
            <a:off x="19148148" y="4679130"/>
            <a:ext cx="7589520" cy="657846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5164120-F1AF-5E22-4EBF-264648232B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7" t="5908" r="6682" b="5655"/>
          <a:stretch>
            <a:fillRect/>
          </a:stretch>
        </p:blipFill>
        <p:spPr>
          <a:xfrm>
            <a:off x="19148147" y="11524027"/>
            <a:ext cx="7589520" cy="570930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C65BE71-8BD2-4F4D-4765-D7349E0FCF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3" t="6362" r="6409" b="4075"/>
          <a:stretch>
            <a:fillRect/>
          </a:stretch>
        </p:blipFill>
        <p:spPr>
          <a:xfrm>
            <a:off x="11050448" y="11427618"/>
            <a:ext cx="7589521" cy="5902129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0165A6A9-8CC5-ED3F-E4F4-934E63C5AEC7}"/>
              </a:ext>
            </a:extLst>
          </p:cNvPr>
          <p:cNvSpPr/>
          <p:nvPr/>
        </p:nvSpPr>
        <p:spPr>
          <a:xfrm>
            <a:off x="481249" y="14677807"/>
            <a:ext cx="10123170" cy="104628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735BDB-AC36-7499-73EB-BCC5FF4F81D5}"/>
              </a:ext>
            </a:extLst>
          </p:cNvPr>
          <p:cNvSpPr txBox="1"/>
          <p:nvPr/>
        </p:nvSpPr>
        <p:spPr>
          <a:xfrm>
            <a:off x="608571" y="15886357"/>
            <a:ext cx="9848254" cy="10941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Study Design: 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Multi-descriptive case series with remote observational design.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Study Procedures: </a:t>
            </a:r>
            <a:r>
              <a:rPr lang="en-US" sz="3900" b="1" dirty="0">
                <a:latin typeface="Calibri" panose="020F0502020204030204" pitchFamily="34" charset="0"/>
                <a:cs typeface="Calibri" panose="020F0502020204030204" pitchFamily="34" charset="0"/>
              </a:rPr>
              <a:t>Sample: </a:t>
            </a:r>
            <a:r>
              <a:rPr lang="en-US" sz="3900" dirty="0">
                <a:latin typeface="Calibri" panose="020F0502020204030204" pitchFamily="34" charset="0"/>
                <a:cs typeface="Calibri" panose="020F0502020204030204" pitchFamily="34" charset="0"/>
              </a:rPr>
              <a:t>Participants (n=4) with stroke (</a:t>
            </a:r>
            <a:r>
              <a:rPr lang="en-US" sz="3900" u="sng" dirty="0"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sz="3900" dirty="0">
                <a:latin typeface="Calibri" panose="020F0502020204030204" pitchFamily="34" charset="0"/>
                <a:cs typeface="Calibri" panose="020F0502020204030204" pitchFamily="34" charset="0"/>
              </a:rPr>
              <a:t> 6 months)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900" b="1" dirty="0">
                <a:latin typeface="Calibri" panose="020F0502020204030204" pitchFamily="34" charset="0"/>
                <a:cs typeface="Calibri" panose="020F0502020204030204" pitchFamily="34" charset="0"/>
              </a:rPr>
              <a:t>Devices:</a:t>
            </a:r>
            <a:r>
              <a:rPr lang="en-US" sz="3900" dirty="0">
                <a:latin typeface="Calibri" panose="020F0502020204030204" pitchFamily="34" charset="0"/>
                <a:cs typeface="Calibri" panose="020F0502020204030204" pitchFamily="34" charset="0"/>
              </a:rPr>
              <a:t> ActiGraph GT3X+ accelerometer and Qstarz BT‑Q1000XT GPS, worn ≥8 hours/day; devices were mailed, procedures were remote, and participants completed daily logs.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900" b="1" dirty="0">
                <a:latin typeface="Calibri" panose="020F0502020204030204" pitchFamily="34" charset="0"/>
                <a:cs typeface="Calibri" panose="020F0502020204030204" pitchFamily="34" charset="0"/>
              </a:rPr>
              <a:t>Duration:</a:t>
            </a:r>
            <a:r>
              <a:rPr lang="en-US" sz="3900" dirty="0">
                <a:latin typeface="Calibri" panose="020F0502020204030204" pitchFamily="34" charset="0"/>
                <a:cs typeface="Calibri" panose="020F0502020204030204" pitchFamily="34" charset="0"/>
              </a:rPr>
              <a:t> 10–15 days of concurrent GPS and accelerometer monitoring with 10‑second epochs.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900" b="1" dirty="0">
                <a:latin typeface="Calibri" panose="020F0502020204030204" pitchFamily="34" charset="0"/>
                <a:cs typeface="Calibri" panose="020F0502020204030204" pitchFamily="34" charset="0"/>
              </a:rPr>
              <a:t>Analysis:</a:t>
            </a:r>
            <a:r>
              <a:rPr lang="en-US" sz="3900" dirty="0">
                <a:latin typeface="Calibri" panose="020F0502020204030204" pitchFamily="34" charset="0"/>
                <a:cs typeface="Calibri" panose="020F0502020204030204" pitchFamily="34" charset="0"/>
              </a:rPr>
              <a:t> Physical activity intensity (Freedson cut‑points) by location, with geospatial data classified as home (120‑m buffer around residence)</a:t>
            </a:r>
            <a:r>
              <a:rPr lang="en-US" sz="3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3900" dirty="0">
                <a:latin typeface="Calibri" panose="020F0502020204030204" pitchFamily="34" charset="0"/>
                <a:cs typeface="Calibri" panose="020F0502020204030204" pitchFamily="34" charset="0"/>
              </a:rPr>
              <a:t> or community; study enrollment and analyses are ongoing as part of a larger stroke cohort.</a:t>
            </a:r>
            <a:r>
              <a:rPr lang="en-US" sz="3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3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883865B-452D-4E92-3629-F096C753505B}"/>
              </a:ext>
            </a:extLst>
          </p:cNvPr>
          <p:cNvSpPr/>
          <p:nvPr/>
        </p:nvSpPr>
        <p:spPr>
          <a:xfrm>
            <a:off x="27146904" y="4685784"/>
            <a:ext cx="7659138" cy="5584878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10010AF-7D97-5747-6C4A-17A654F880ED}"/>
              </a:ext>
            </a:extLst>
          </p:cNvPr>
          <p:cNvSpPr/>
          <p:nvPr/>
        </p:nvSpPr>
        <p:spPr>
          <a:xfrm>
            <a:off x="449957" y="26938240"/>
            <a:ext cx="10091661" cy="104628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RESULTS 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680AE7E-737A-2418-0019-B49F61BAB777}"/>
              </a:ext>
            </a:extLst>
          </p:cNvPr>
          <p:cNvSpPr/>
          <p:nvPr/>
        </p:nvSpPr>
        <p:spPr>
          <a:xfrm>
            <a:off x="10940052" y="19276487"/>
            <a:ext cx="20530785" cy="6107147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0DACB90-63AA-710A-2D9B-1DFC5BAD7C3A}"/>
              </a:ext>
            </a:extLst>
          </p:cNvPr>
          <p:cNvSpPr/>
          <p:nvPr/>
        </p:nvSpPr>
        <p:spPr>
          <a:xfrm>
            <a:off x="31946685" y="16757588"/>
            <a:ext cx="11518336" cy="2404822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9DD8D0A-BDEE-203D-9DA9-32E9A3430A8C}"/>
              </a:ext>
            </a:extLst>
          </p:cNvPr>
          <p:cNvSpPr/>
          <p:nvPr/>
        </p:nvSpPr>
        <p:spPr>
          <a:xfrm>
            <a:off x="31938199" y="15731947"/>
            <a:ext cx="11555163" cy="10462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300" dirty="0">
                <a:latin typeface="Calibri" panose="020F0502020204030204" pitchFamily="34" charset="0"/>
                <a:cs typeface="Calibri" panose="020F0502020204030204" pitchFamily="34" charset="0"/>
              </a:rPr>
              <a:t>CLINICAL RELEVANCE AND FUTURE DIRECTIONS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76E19F6-2217-ADC3-CFE5-A0EDCA73DAF3}"/>
              </a:ext>
            </a:extLst>
          </p:cNvPr>
          <p:cNvSpPr/>
          <p:nvPr/>
        </p:nvSpPr>
        <p:spPr>
          <a:xfrm>
            <a:off x="26962240" y="10383460"/>
            <a:ext cx="4741252" cy="8451570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CED7FAD1-682B-D0C6-F800-D6F8DAD405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94825" y="11397096"/>
            <a:ext cx="4191220" cy="6786790"/>
          </a:xfrm>
          <a:prstGeom prst="rect">
            <a:avLst/>
          </a:prstGeom>
        </p:spPr>
      </p:pic>
      <p:pic>
        <p:nvPicPr>
          <p:cNvPr id="77" name="Picture 76" descr="A close-up of a logo&#10;&#10;AI-generated content may be incorrect.">
            <a:extLst>
              <a:ext uri="{FF2B5EF4-FFF2-40B4-BE49-F238E27FC236}">
                <a16:creationId xmlns:a16="http://schemas.microsoft.com/office/drawing/2014/main" id="{F0822590-B828-6A68-6C06-E2C91F1495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33" y="946912"/>
            <a:ext cx="5239384" cy="2309027"/>
          </a:xfrm>
          <a:prstGeom prst="rect">
            <a:avLst/>
          </a:prstGeom>
        </p:spPr>
      </p:pic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BE8FBA1-1B2C-22BD-8ADB-D612313CE130}"/>
              </a:ext>
            </a:extLst>
          </p:cNvPr>
          <p:cNvCxnSpPr>
            <a:cxnSpLocks/>
          </p:cNvCxnSpPr>
          <p:nvPr/>
        </p:nvCxnSpPr>
        <p:spPr>
          <a:xfrm>
            <a:off x="29364346" y="11316610"/>
            <a:ext cx="0" cy="6167744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DDB060FF-ECF3-9CD6-2972-2DA6BA555176}"/>
              </a:ext>
            </a:extLst>
          </p:cNvPr>
          <p:cNvSpPr/>
          <p:nvPr/>
        </p:nvSpPr>
        <p:spPr>
          <a:xfrm>
            <a:off x="27082353" y="10575483"/>
            <a:ext cx="1952142" cy="121314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Non-paretic side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A998A6-A9B1-4CD1-B1CB-BD5CA4F32A44}"/>
              </a:ext>
            </a:extLst>
          </p:cNvPr>
          <p:cNvSpPr txBox="1"/>
          <p:nvPr/>
        </p:nvSpPr>
        <p:spPr>
          <a:xfrm>
            <a:off x="26979455" y="17850319"/>
            <a:ext cx="47697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 </a:t>
            </a:r>
            <a:r>
              <a:rPr lang="en-US" sz="2800" dirty="0"/>
              <a:t>Figure: 2: Sensor Placement Sites</a:t>
            </a:r>
          </a:p>
        </p:txBody>
      </p:sp>
      <p:pic>
        <p:nvPicPr>
          <p:cNvPr id="86" name="Picture 2">
            <a:extLst>
              <a:ext uri="{FF2B5EF4-FFF2-40B4-BE49-F238E27FC236}">
                <a16:creationId xmlns:a16="http://schemas.microsoft.com/office/drawing/2014/main" id="{1E08A768-5EF6-8B47-0D0B-4FA152C97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2814" y="946275"/>
            <a:ext cx="4935327" cy="2723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2426ABA6-A335-2637-0EB9-A722242DE761}"/>
              </a:ext>
            </a:extLst>
          </p:cNvPr>
          <p:cNvSpPr txBox="1"/>
          <p:nvPr/>
        </p:nvSpPr>
        <p:spPr>
          <a:xfrm>
            <a:off x="6076950" y="541756"/>
            <a:ext cx="322364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</a:rPr>
              <a:t>Geographical extent of physical activity and community mobility post-stroke: a GPS and accelerometry case series</a:t>
            </a:r>
          </a:p>
          <a:p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D96773C-7D65-0FE5-D97E-037F864D6C4B}"/>
              </a:ext>
            </a:extLst>
          </p:cNvPr>
          <p:cNvSpPr txBox="1"/>
          <p:nvPr/>
        </p:nvSpPr>
        <p:spPr>
          <a:xfrm>
            <a:off x="628333" y="27472589"/>
            <a:ext cx="9706489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900" dirty="0">
                <a:latin typeface="Calibri" panose="020F0502020204030204" pitchFamily="34" charset="0"/>
                <a:cs typeface="Calibri" panose="020F0502020204030204" pitchFamily="34" charset="0"/>
              </a:rPr>
              <a:t>Light-intensity activity was seen predominated within the home buffer for all participants except for Participant  1, who spent more time in the community (Table 2).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900" dirty="0">
                <a:latin typeface="Calibri" panose="020F0502020204030204" pitchFamily="34" charset="0"/>
                <a:cs typeface="Calibri" panose="020F0502020204030204" pitchFamily="34" charset="0"/>
              </a:rPr>
              <a:t>Monitoring days: P1 = 13, P2 = 11, P3 = 10, P4 = 15 (Table 1).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1281A14-808C-11F7-6663-5E611C5E8C0B}"/>
              </a:ext>
            </a:extLst>
          </p:cNvPr>
          <p:cNvSpPr txBox="1"/>
          <p:nvPr/>
        </p:nvSpPr>
        <p:spPr>
          <a:xfrm>
            <a:off x="11521440" y="5034768"/>
            <a:ext cx="457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882CF94-5093-1829-FCEE-E82BD39B89A8}"/>
              </a:ext>
            </a:extLst>
          </p:cNvPr>
          <p:cNvSpPr txBox="1"/>
          <p:nvPr/>
        </p:nvSpPr>
        <p:spPr>
          <a:xfrm>
            <a:off x="19432732" y="4995243"/>
            <a:ext cx="457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A6B6392-8946-0C7C-42AD-C2677B5E47D7}"/>
              </a:ext>
            </a:extLst>
          </p:cNvPr>
          <p:cNvSpPr txBox="1"/>
          <p:nvPr/>
        </p:nvSpPr>
        <p:spPr>
          <a:xfrm>
            <a:off x="11258685" y="11918924"/>
            <a:ext cx="47025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5DEF4A6-698F-54C5-0858-B10F11106DC4}"/>
              </a:ext>
            </a:extLst>
          </p:cNvPr>
          <p:cNvSpPr txBox="1"/>
          <p:nvPr/>
        </p:nvSpPr>
        <p:spPr>
          <a:xfrm>
            <a:off x="19432732" y="11823495"/>
            <a:ext cx="457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DDA37D1-3A7A-6B18-2867-6D1ABBEF198F}"/>
              </a:ext>
            </a:extLst>
          </p:cNvPr>
          <p:cNvSpPr txBox="1"/>
          <p:nvPr/>
        </p:nvSpPr>
        <p:spPr>
          <a:xfrm>
            <a:off x="9488595" y="2800625"/>
            <a:ext cx="251125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Swapna Balakrishnan PT, DPT, NCS, Anya Bobkoskie, Bella Chiulli BS,  Denise. Peters PT, DPT, PhD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B3201A6-9181-E052-C187-3B1E91F6AA95}"/>
              </a:ext>
            </a:extLst>
          </p:cNvPr>
          <p:cNvSpPr/>
          <p:nvPr/>
        </p:nvSpPr>
        <p:spPr>
          <a:xfrm>
            <a:off x="31972444" y="24837455"/>
            <a:ext cx="11492577" cy="7246844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7" name="Picture 9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8DBF6DC-0F2A-DD44-8D22-4A48B52192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81267" y="29979881"/>
            <a:ext cx="4555559" cy="1848851"/>
          </a:xfrm>
          <a:prstGeom prst="rect">
            <a:avLst/>
          </a:prstGeom>
        </p:spPr>
      </p:pic>
      <p:pic>
        <p:nvPicPr>
          <p:cNvPr id="98" name="Picture 1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50EBC045-E187-5C6C-59A5-8A2E43BB0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3564" y="30156730"/>
            <a:ext cx="3700802" cy="1404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4D6AD549-856A-D419-AC2C-362CBDC15378}"/>
              </a:ext>
            </a:extLst>
          </p:cNvPr>
          <p:cNvSpPr txBox="1"/>
          <p:nvPr/>
        </p:nvSpPr>
        <p:spPr>
          <a:xfrm>
            <a:off x="34806042" y="29412355"/>
            <a:ext cx="74980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400" b="1" dirty="0">
                <a:solidFill>
                  <a:srgbClr val="000000"/>
                </a:solidFill>
              </a:rPr>
              <a:t>Acknowledgements:</a:t>
            </a:r>
          </a:p>
          <a:p>
            <a:endParaRPr lang="en-US" sz="44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1D69E88-A1F7-95E1-0F1D-135EE272E5EA}"/>
              </a:ext>
            </a:extLst>
          </p:cNvPr>
          <p:cNvSpPr txBox="1"/>
          <p:nvPr/>
        </p:nvSpPr>
        <p:spPr>
          <a:xfrm>
            <a:off x="32927567" y="27984524"/>
            <a:ext cx="49004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Scan QR code to 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download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102" name="Graphic 7">
            <a:extLst>
              <a:ext uri="{FF2B5EF4-FFF2-40B4-BE49-F238E27FC236}">
                <a16:creationId xmlns:a16="http://schemas.microsoft.com/office/drawing/2014/main" id="{99347F7E-8EBC-0B46-9284-DACCB6E21CDA}"/>
              </a:ext>
            </a:extLst>
          </p:cNvPr>
          <p:cNvSpPr/>
          <p:nvPr/>
        </p:nvSpPr>
        <p:spPr>
          <a:xfrm>
            <a:off x="36411400" y="26921400"/>
            <a:ext cx="704558" cy="1341402"/>
          </a:xfrm>
          <a:custGeom>
            <a:avLst/>
            <a:gdLst>
              <a:gd name="connsiteX0" fmla="*/ 321256 w 2089376"/>
              <a:gd name="connsiteY0" fmla="*/ 0 h 3614056"/>
              <a:gd name="connsiteX1" fmla="*/ 0 w 2089376"/>
              <a:gd name="connsiteY1" fmla="*/ 321256 h 3614056"/>
              <a:gd name="connsiteX2" fmla="*/ 0 w 2089376"/>
              <a:gd name="connsiteY2" fmla="*/ 3292801 h 3614056"/>
              <a:gd name="connsiteX3" fmla="*/ 321256 w 2089376"/>
              <a:gd name="connsiteY3" fmla="*/ 3614057 h 3614056"/>
              <a:gd name="connsiteX4" fmla="*/ 1815047 w 2089376"/>
              <a:gd name="connsiteY4" fmla="*/ 3614057 h 3614056"/>
              <a:gd name="connsiteX5" fmla="*/ 2136303 w 2089376"/>
              <a:gd name="connsiteY5" fmla="*/ 3292801 h 3614056"/>
              <a:gd name="connsiteX6" fmla="*/ 2136303 w 2089376"/>
              <a:gd name="connsiteY6" fmla="*/ 321256 h 3614056"/>
              <a:gd name="connsiteX7" fmla="*/ 1815047 w 2089376"/>
              <a:gd name="connsiteY7" fmla="*/ 0 h 3614056"/>
              <a:gd name="connsiteX8" fmla="*/ 321256 w 2089376"/>
              <a:gd name="connsiteY8" fmla="*/ 0 h 3614056"/>
              <a:gd name="connsiteX9" fmla="*/ 889115 w 2089376"/>
              <a:gd name="connsiteY9" fmla="*/ 309397 h 3614056"/>
              <a:gd name="connsiteX10" fmla="*/ 1247302 w 2089376"/>
              <a:gd name="connsiteY10" fmla="*/ 309397 h 3614056"/>
              <a:gd name="connsiteX11" fmla="*/ 1289936 w 2089376"/>
              <a:gd name="connsiteY11" fmla="*/ 369650 h 3614056"/>
              <a:gd name="connsiteX12" fmla="*/ 1247302 w 2089376"/>
              <a:gd name="connsiteY12" fmla="*/ 429903 h 3614056"/>
              <a:gd name="connsiteX13" fmla="*/ 889115 w 2089376"/>
              <a:gd name="connsiteY13" fmla="*/ 429903 h 3614056"/>
              <a:gd name="connsiteX14" fmla="*/ 846480 w 2089376"/>
              <a:gd name="connsiteY14" fmla="*/ 369650 h 3614056"/>
              <a:gd name="connsiteX15" fmla="*/ 889115 w 2089376"/>
              <a:gd name="connsiteY15" fmla="*/ 309397 h 3614056"/>
              <a:gd name="connsiteX16" fmla="*/ 176468 w 2089376"/>
              <a:gd name="connsiteY16" fmla="*/ 738905 h 3614056"/>
              <a:gd name="connsiteX17" fmla="*/ 1959892 w 2089376"/>
              <a:gd name="connsiteY17" fmla="*/ 738905 h 3614056"/>
              <a:gd name="connsiteX18" fmla="*/ 1959892 w 2089376"/>
              <a:gd name="connsiteY18" fmla="*/ 2875208 h 3614056"/>
              <a:gd name="connsiteX19" fmla="*/ 176468 w 2089376"/>
              <a:gd name="connsiteY19" fmla="*/ 2875208 h 3614056"/>
              <a:gd name="connsiteX20" fmla="*/ 176468 w 2089376"/>
              <a:gd name="connsiteY20" fmla="*/ 738905 h 3614056"/>
              <a:gd name="connsiteX21" fmla="*/ 1068180 w 2089376"/>
              <a:gd name="connsiteY21" fmla="*/ 3045747 h 3614056"/>
              <a:gd name="connsiteX22" fmla="*/ 1068180 w 2089376"/>
              <a:gd name="connsiteY22" fmla="*/ 3045747 h 3614056"/>
              <a:gd name="connsiteX23" fmla="*/ 1267066 w 2089376"/>
              <a:gd name="connsiteY23" fmla="*/ 3244633 h 3614056"/>
              <a:gd name="connsiteX24" fmla="*/ 1267066 w 2089376"/>
              <a:gd name="connsiteY24" fmla="*/ 3244633 h 3614056"/>
              <a:gd name="connsiteX25" fmla="*/ 1267066 w 2089376"/>
              <a:gd name="connsiteY25" fmla="*/ 3244633 h 3614056"/>
              <a:gd name="connsiteX26" fmla="*/ 1267066 w 2089376"/>
              <a:gd name="connsiteY26" fmla="*/ 3244633 h 3614056"/>
              <a:gd name="connsiteX27" fmla="*/ 1068180 w 2089376"/>
              <a:gd name="connsiteY27" fmla="*/ 3443519 h 3614056"/>
              <a:gd name="connsiteX28" fmla="*/ 1068180 w 2089376"/>
              <a:gd name="connsiteY28" fmla="*/ 3443519 h 3614056"/>
              <a:gd name="connsiteX29" fmla="*/ 1068180 w 2089376"/>
              <a:gd name="connsiteY29" fmla="*/ 3443519 h 3614056"/>
              <a:gd name="connsiteX30" fmla="*/ 1068180 w 2089376"/>
              <a:gd name="connsiteY30" fmla="*/ 3443519 h 3614056"/>
              <a:gd name="connsiteX31" fmla="*/ 869294 w 2089376"/>
              <a:gd name="connsiteY31" fmla="*/ 3244633 h 3614056"/>
              <a:gd name="connsiteX32" fmla="*/ 869294 w 2089376"/>
              <a:gd name="connsiteY32" fmla="*/ 3244633 h 3614056"/>
              <a:gd name="connsiteX33" fmla="*/ 869294 w 2089376"/>
              <a:gd name="connsiteY33" fmla="*/ 3244633 h 3614056"/>
              <a:gd name="connsiteX34" fmla="*/ 869294 w 2089376"/>
              <a:gd name="connsiteY34" fmla="*/ 3244633 h 3614056"/>
              <a:gd name="connsiteX35" fmla="*/ 1068180 w 2089376"/>
              <a:gd name="connsiteY35" fmla="*/ 3045747 h 3614056"/>
              <a:gd name="connsiteX36" fmla="*/ 1068180 w 2089376"/>
              <a:gd name="connsiteY36" fmla="*/ 3045747 h 3614056"/>
              <a:gd name="connsiteX37" fmla="*/ 1068180 w 2089376"/>
              <a:gd name="connsiteY37" fmla="*/ 3045747 h 3614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089376" h="3614056">
                <a:moveTo>
                  <a:pt x="321256" y="0"/>
                </a:moveTo>
                <a:cubicBezTo>
                  <a:pt x="144562" y="0"/>
                  <a:pt x="0" y="144562"/>
                  <a:pt x="0" y="321256"/>
                </a:cubicBezTo>
                <a:lnTo>
                  <a:pt x="0" y="3292801"/>
                </a:lnTo>
                <a:cubicBezTo>
                  <a:pt x="0" y="3469495"/>
                  <a:pt x="144562" y="3614057"/>
                  <a:pt x="321256" y="3614057"/>
                </a:cubicBezTo>
                <a:lnTo>
                  <a:pt x="1815047" y="3614057"/>
                </a:lnTo>
                <a:cubicBezTo>
                  <a:pt x="1991741" y="3614057"/>
                  <a:pt x="2136303" y="3469495"/>
                  <a:pt x="2136303" y="3292801"/>
                </a:cubicBezTo>
                <a:lnTo>
                  <a:pt x="2136303" y="321256"/>
                </a:lnTo>
                <a:cubicBezTo>
                  <a:pt x="2136303" y="144562"/>
                  <a:pt x="1991741" y="0"/>
                  <a:pt x="1815047" y="0"/>
                </a:cubicBezTo>
                <a:lnTo>
                  <a:pt x="321256" y="0"/>
                </a:lnTo>
                <a:close/>
                <a:moveTo>
                  <a:pt x="889115" y="309397"/>
                </a:moveTo>
                <a:lnTo>
                  <a:pt x="1247302" y="309397"/>
                </a:lnTo>
                <a:cubicBezTo>
                  <a:pt x="1270849" y="309397"/>
                  <a:pt x="1289936" y="336390"/>
                  <a:pt x="1289936" y="369650"/>
                </a:cubicBezTo>
                <a:cubicBezTo>
                  <a:pt x="1289936" y="402911"/>
                  <a:pt x="1270849" y="429903"/>
                  <a:pt x="1247302" y="429903"/>
                </a:cubicBezTo>
                <a:lnTo>
                  <a:pt x="889115" y="429903"/>
                </a:lnTo>
                <a:cubicBezTo>
                  <a:pt x="865567" y="429903"/>
                  <a:pt x="846480" y="402911"/>
                  <a:pt x="846480" y="369650"/>
                </a:cubicBezTo>
                <a:cubicBezTo>
                  <a:pt x="846480" y="336390"/>
                  <a:pt x="865567" y="309397"/>
                  <a:pt x="889115" y="309397"/>
                </a:cubicBezTo>
                <a:close/>
                <a:moveTo>
                  <a:pt x="176468" y="738905"/>
                </a:moveTo>
                <a:lnTo>
                  <a:pt x="1959892" y="738905"/>
                </a:lnTo>
                <a:lnTo>
                  <a:pt x="1959892" y="2875208"/>
                </a:lnTo>
                <a:lnTo>
                  <a:pt x="176468" y="2875208"/>
                </a:lnTo>
                <a:lnTo>
                  <a:pt x="176468" y="738905"/>
                </a:lnTo>
                <a:close/>
                <a:moveTo>
                  <a:pt x="1068180" y="3045747"/>
                </a:moveTo>
                <a:cubicBezTo>
                  <a:pt x="1068180" y="3045747"/>
                  <a:pt x="1068180" y="3045747"/>
                  <a:pt x="1068180" y="3045747"/>
                </a:cubicBezTo>
                <a:cubicBezTo>
                  <a:pt x="1178013" y="3045747"/>
                  <a:pt x="1267066" y="3134799"/>
                  <a:pt x="1267066" y="3244633"/>
                </a:cubicBezTo>
                <a:cubicBezTo>
                  <a:pt x="1267066" y="3244633"/>
                  <a:pt x="1267066" y="3244633"/>
                  <a:pt x="1267066" y="3244633"/>
                </a:cubicBezTo>
                <a:lnTo>
                  <a:pt x="1267066" y="3244633"/>
                </a:lnTo>
                <a:cubicBezTo>
                  <a:pt x="1267066" y="3244633"/>
                  <a:pt x="1267066" y="3244633"/>
                  <a:pt x="1267066" y="3244633"/>
                </a:cubicBezTo>
                <a:cubicBezTo>
                  <a:pt x="1267066" y="3354466"/>
                  <a:pt x="1178013" y="3443519"/>
                  <a:pt x="1068180" y="3443519"/>
                </a:cubicBezTo>
                <a:cubicBezTo>
                  <a:pt x="1068180" y="3443519"/>
                  <a:pt x="1068180" y="3443519"/>
                  <a:pt x="1068180" y="3443519"/>
                </a:cubicBezTo>
                <a:lnTo>
                  <a:pt x="1068180" y="3443519"/>
                </a:lnTo>
                <a:cubicBezTo>
                  <a:pt x="1068180" y="3443519"/>
                  <a:pt x="1068180" y="3443519"/>
                  <a:pt x="1068180" y="3443519"/>
                </a:cubicBezTo>
                <a:cubicBezTo>
                  <a:pt x="958346" y="3443519"/>
                  <a:pt x="869294" y="3354466"/>
                  <a:pt x="869294" y="3244633"/>
                </a:cubicBezTo>
                <a:cubicBezTo>
                  <a:pt x="869294" y="3244633"/>
                  <a:pt x="869294" y="3244633"/>
                  <a:pt x="869294" y="3244633"/>
                </a:cubicBezTo>
                <a:lnTo>
                  <a:pt x="869294" y="3244633"/>
                </a:lnTo>
                <a:cubicBezTo>
                  <a:pt x="869294" y="3244633"/>
                  <a:pt x="869294" y="3244633"/>
                  <a:pt x="869294" y="3244633"/>
                </a:cubicBezTo>
                <a:cubicBezTo>
                  <a:pt x="869294" y="3134799"/>
                  <a:pt x="958346" y="3045747"/>
                  <a:pt x="1068180" y="3045747"/>
                </a:cubicBezTo>
                <a:cubicBezTo>
                  <a:pt x="1068180" y="3045747"/>
                  <a:pt x="1068180" y="3045747"/>
                  <a:pt x="1068180" y="3045747"/>
                </a:cubicBezTo>
                <a:lnTo>
                  <a:pt x="1068180" y="3045747"/>
                </a:lnTo>
                <a:close/>
              </a:path>
            </a:pathLst>
          </a:custGeom>
          <a:solidFill>
            <a:schemeClr val="tx1"/>
          </a:solidFill>
          <a:ln w="564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0655A98-4E25-1430-70DD-CB897DB6F83F}"/>
              </a:ext>
            </a:extLst>
          </p:cNvPr>
          <p:cNvCxnSpPr>
            <a:cxnSpLocks/>
          </p:cNvCxnSpPr>
          <p:nvPr/>
        </p:nvCxnSpPr>
        <p:spPr>
          <a:xfrm flipH="1" flipV="1">
            <a:off x="34959046" y="26578408"/>
            <a:ext cx="1173436" cy="604698"/>
          </a:xfrm>
          <a:prstGeom prst="straightConnector1">
            <a:avLst/>
          </a:prstGeom>
          <a:ln w="73025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57D29EA3-9C5F-E72E-DAD3-36E7CBFD4E12}"/>
              </a:ext>
            </a:extLst>
          </p:cNvPr>
          <p:cNvSpPr txBox="1"/>
          <p:nvPr/>
        </p:nvSpPr>
        <p:spPr>
          <a:xfrm>
            <a:off x="34806042" y="24938093"/>
            <a:ext cx="50028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References: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EC4F973-142B-FF57-C15C-069F58448C62}"/>
              </a:ext>
            </a:extLst>
          </p:cNvPr>
          <p:cNvSpPr txBox="1"/>
          <p:nvPr/>
        </p:nvSpPr>
        <p:spPr>
          <a:xfrm>
            <a:off x="10510761" y="3571218"/>
            <a:ext cx="261055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400" dirty="0">
                <a:solidFill>
                  <a:schemeClr val="bg1"/>
                </a:solidFill>
              </a:rPr>
              <a:t>Department of Rehabilitation and Movement Sciences, The University of Vermont, Burlington, VT</a:t>
            </a:r>
          </a:p>
          <a:p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446F9-2FE7-117A-CA1C-9D365E45FCAE}"/>
              </a:ext>
            </a:extLst>
          </p:cNvPr>
          <p:cNvSpPr txBox="1"/>
          <p:nvPr/>
        </p:nvSpPr>
        <p:spPr>
          <a:xfrm>
            <a:off x="11050447" y="17329747"/>
            <a:ext cx="15649944" cy="181588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Figure 1: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Panels A1 and B1 show the average daily travel paths for Participants 3 and 4, including both walking and vehicle travel. Panels A2 and B2 display GPS and ActiGraph GT3X+ points for Participants 1 and 4 during walking episodes (speed &lt; 2 m/s).</a:t>
            </a:r>
            <a:r>
              <a:rPr lang="en-US" sz="28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The home buffer is defined as a 120 m radius around the participant’s residence; locations beyond this boundary are classified as community.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4E7089-555D-60AD-9B6E-55A31BBBE2DF}"/>
              </a:ext>
            </a:extLst>
          </p:cNvPr>
          <p:cNvSpPr/>
          <p:nvPr/>
        </p:nvSpPr>
        <p:spPr>
          <a:xfrm>
            <a:off x="35150280" y="5157891"/>
            <a:ext cx="8213093" cy="5975785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76B562-FF86-6633-E375-79CD0D7E7460}"/>
              </a:ext>
            </a:extLst>
          </p:cNvPr>
          <p:cNvSpPr/>
          <p:nvPr/>
        </p:nvSpPr>
        <p:spPr>
          <a:xfrm>
            <a:off x="35143047" y="4674063"/>
            <a:ext cx="8252853" cy="96047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LIMITATIONS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FB269F-D0BE-4CB2-5E15-810022B93B03}"/>
              </a:ext>
            </a:extLst>
          </p:cNvPr>
          <p:cNvSpPr/>
          <p:nvPr/>
        </p:nvSpPr>
        <p:spPr>
          <a:xfrm>
            <a:off x="27159420" y="4668030"/>
            <a:ext cx="7670591" cy="104628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RESULTS &amp; DISCUSSION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E5EB69-1101-62F7-7A92-C383425A0F64}"/>
              </a:ext>
            </a:extLst>
          </p:cNvPr>
          <p:cNvSpPr txBox="1"/>
          <p:nvPr/>
        </p:nvSpPr>
        <p:spPr>
          <a:xfrm>
            <a:off x="27331575" y="5874867"/>
            <a:ext cx="7448582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900" dirty="0">
                <a:latin typeface="Calibri" panose="020F0502020204030204" pitchFamily="34" charset="0"/>
                <a:cs typeface="Calibri" panose="020F0502020204030204" pitchFamily="34" charset="0"/>
              </a:rPr>
              <a:t>Moderate activity was observed only in Participants 1 and 4; no vigorous activity was recorded (Table 2).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900" dirty="0">
                <a:latin typeface="Calibri" panose="020F0502020204030204" pitchFamily="34" charset="0"/>
                <a:cs typeface="Calibri" panose="020F0502020204030204" pitchFamily="34" charset="0"/>
              </a:rPr>
              <a:t>Time at home was lowest for Participant 1 and highest for Participant 3 (Table 3).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09CDA0-F4C8-A273-A3A0-F8226DE950EC}"/>
              </a:ext>
            </a:extLst>
          </p:cNvPr>
          <p:cNvSpPr txBox="1"/>
          <p:nvPr/>
        </p:nvSpPr>
        <p:spPr>
          <a:xfrm>
            <a:off x="35377796" y="5852160"/>
            <a:ext cx="797698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900" dirty="0">
                <a:latin typeface="Calibri" panose="020F0502020204030204" pitchFamily="34" charset="0"/>
                <a:cs typeface="Calibri" panose="020F0502020204030204" pitchFamily="34" charset="0"/>
              </a:rPr>
              <a:t>This study is a case series with a small sample size and therefore the findings are not generalizable.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900" dirty="0">
                <a:latin typeface="Calibri" panose="020F0502020204030204" pitchFamily="34" charset="0"/>
                <a:cs typeface="Calibri" panose="020F0502020204030204" pitchFamily="34" charset="0"/>
              </a:rPr>
              <a:t>The equations for classifying PA intensity was developed among healthy adults and may slightly underestimate PA intensity of stroke survivors.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5E3BD5-99AF-88AA-2A08-287C4CF2F5EF}"/>
              </a:ext>
            </a:extLst>
          </p:cNvPr>
          <p:cNvSpPr txBox="1"/>
          <p:nvPr/>
        </p:nvSpPr>
        <p:spPr>
          <a:xfrm>
            <a:off x="31992429" y="16815889"/>
            <a:ext cx="103838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Mapping real-world PA behaviors post-stroke can help tailor rehabilitation interventions and examine how environmental and community factors influence PA participation.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F809CE-3FE0-34D8-1BB9-E9CCC13059DF}"/>
              </a:ext>
            </a:extLst>
          </p:cNvPr>
          <p:cNvSpPr/>
          <p:nvPr/>
        </p:nvSpPr>
        <p:spPr>
          <a:xfrm>
            <a:off x="31909860" y="11793860"/>
            <a:ext cx="11561368" cy="3756948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4CB21B-7FD6-A95D-005F-BACAA32E9639}"/>
              </a:ext>
            </a:extLst>
          </p:cNvPr>
          <p:cNvSpPr/>
          <p:nvPr/>
        </p:nvSpPr>
        <p:spPr>
          <a:xfrm>
            <a:off x="31894573" y="11491002"/>
            <a:ext cx="11570448" cy="96047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F0D59D-8309-DA67-D823-DF7BAF52BE6C}"/>
              </a:ext>
            </a:extLst>
          </p:cNvPr>
          <p:cNvSpPr txBox="1"/>
          <p:nvPr/>
        </p:nvSpPr>
        <p:spPr>
          <a:xfrm>
            <a:off x="31943935" y="12648392"/>
            <a:ext cx="111828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This study demonstrates initial feasibility of combining accelerometer and GPS data to estimate  time spent at different PA intensities relative to locations among adults with stroke living in the community.</a:t>
            </a:r>
          </a:p>
          <a:p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54C333-A0E7-8CA3-E32A-EB957F3CF215}"/>
              </a:ext>
            </a:extLst>
          </p:cNvPr>
          <p:cNvSpPr/>
          <p:nvPr/>
        </p:nvSpPr>
        <p:spPr>
          <a:xfrm>
            <a:off x="31966542" y="19496400"/>
            <a:ext cx="11498479" cy="500706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ED25DFB-062E-814F-91C2-EA21778A0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711025"/>
              </p:ext>
            </p:extLst>
          </p:nvPr>
        </p:nvGraphicFramePr>
        <p:xfrm>
          <a:off x="31979073" y="19505316"/>
          <a:ext cx="11042489" cy="3557572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4058074">
                  <a:extLst>
                    <a:ext uri="{9D8B030D-6E8A-4147-A177-3AD203B41FA5}">
                      <a16:colId xmlns:a16="http://schemas.microsoft.com/office/drawing/2014/main" val="840380866"/>
                    </a:ext>
                  </a:extLst>
                </a:gridCol>
                <a:gridCol w="2910173">
                  <a:extLst>
                    <a:ext uri="{9D8B030D-6E8A-4147-A177-3AD203B41FA5}">
                      <a16:colId xmlns:a16="http://schemas.microsoft.com/office/drawing/2014/main" val="623933086"/>
                    </a:ext>
                  </a:extLst>
                </a:gridCol>
                <a:gridCol w="4074242">
                  <a:extLst>
                    <a:ext uri="{9D8B030D-6E8A-4147-A177-3AD203B41FA5}">
                      <a16:colId xmlns:a16="http://schemas.microsoft.com/office/drawing/2014/main" val="3349933728"/>
                    </a:ext>
                  </a:extLst>
                </a:gridCol>
              </a:tblGrid>
              <a:tr h="81437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Participant ID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Home (%)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Community(%)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137872"/>
                  </a:ext>
                </a:extLst>
              </a:tr>
              <a:tr h="40718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1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0.3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99.6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57178047"/>
                  </a:ext>
                </a:extLst>
              </a:tr>
              <a:tr h="40718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2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46.62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53.37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9123399"/>
                  </a:ext>
                </a:extLst>
              </a:tr>
              <a:tr h="40718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3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96.26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3.72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600012"/>
                  </a:ext>
                </a:extLst>
              </a:tr>
              <a:tr h="40718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4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63.84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36.15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9038477"/>
                  </a:ext>
                </a:extLst>
              </a:tr>
              <a:tr h="40718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Mean (</a:t>
                      </a:r>
                      <a:r>
                        <a:rPr lang="en-US" sz="3600" u="sng" kern="100">
                          <a:effectLst/>
                        </a:rPr>
                        <a:t>+</a:t>
                      </a:r>
                      <a:r>
                        <a:rPr lang="en-US" sz="3600" kern="100">
                          <a:effectLst/>
                        </a:rPr>
                        <a:t>SD)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52</a:t>
                      </a:r>
                      <a:r>
                        <a:rPr lang="en-US" sz="3600" u="sng" kern="100">
                          <a:effectLst/>
                        </a:rPr>
                        <a:t>+</a:t>
                      </a:r>
                      <a:r>
                        <a:rPr lang="en-US" sz="3600" kern="100">
                          <a:effectLst/>
                        </a:rPr>
                        <a:t>40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48.21</a:t>
                      </a:r>
                      <a:r>
                        <a:rPr lang="en-US" sz="3600" u="sng" kern="100" dirty="0">
                          <a:effectLst/>
                        </a:rPr>
                        <a:t>+</a:t>
                      </a:r>
                      <a:r>
                        <a:rPr lang="en-US" sz="3600" kern="100" dirty="0">
                          <a:effectLst/>
                        </a:rPr>
                        <a:t>40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374106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B7F5350F-3CF2-0F57-0A75-CF57E2055302}"/>
              </a:ext>
            </a:extLst>
          </p:cNvPr>
          <p:cNvSpPr txBox="1"/>
          <p:nvPr/>
        </p:nvSpPr>
        <p:spPr>
          <a:xfrm>
            <a:off x="32023427" y="23285836"/>
            <a:ext cx="11667347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/>
              <a:t>Table 3 : </a:t>
            </a:r>
            <a:r>
              <a:rPr lang="en-US" sz="2800" dirty="0"/>
              <a:t>Percentage of time spent at the home buffer and the community buffer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FEC50AE-1BB2-5FDD-43DF-0CE2FF192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065792"/>
              </p:ext>
            </p:extLst>
          </p:nvPr>
        </p:nvGraphicFramePr>
        <p:xfrm>
          <a:off x="11006593" y="19413691"/>
          <a:ext cx="20052527" cy="500706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501887">
                  <a:extLst>
                    <a:ext uri="{9D8B030D-6E8A-4147-A177-3AD203B41FA5}">
                      <a16:colId xmlns:a16="http://schemas.microsoft.com/office/drawing/2014/main" val="419689182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371799110"/>
                    </a:ext>
                  </a:extLst>
                </a:gridCol>
                <a:gridCol w="2000749">
                  <a:extLst>
                    <a:ext uri="{9D8B030D-6E8A-4147-A177-3AD203B41FA5}">
                      <a16:colId xmlns:a16="http://schemas.microsoft.com/office/drawing/2014/main" val="3263345238"/>
                    </a:ext>
                  </a:extLst>
                </a:gridCol>
                <a:gridCol w="4723542">
                  <a:extLst>
                    <a:ext uri="{9D8B030D-6E8A-4147-A177-3AD203B41FA5}">
                      <a16:colId xmlns:a16="http://schemas.microsoft.com/office/drawing/2014/main" val="3806445598"/>
                    </a:ext>
                  </a:extLst>
                </a:gridCol>
                <a:gridCol w="2382437">
                  <a:extLst>
                    <a:ext uri="{9D8B030D-6E8A-4147-A177-3AD203B41FA5}">
                      <a16:colId xmlns:a16="http://schemas.microsoft.com/office/drawing/2014/main" val="185119108"/>
                    </a:ext>
                  </a:extLst>
                </a:gridCol>
                <a:gridCol w="5615112">
                  <a:extLst>
                    <a:ext uri="{9D8B030D-6E8A-4147-A177-3AD203B41FA5}">
                      <a16:colId xmlns:a16="http://schemas.microsoft.com/office/drawing/2014/main" val="2984073463"/>
                    </a:ext>
                  </a:extLst>
                </a:gridCol>
              </a:tblGrid>
              <a:tr h="132289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ID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Age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(years)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Sex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Time Post-Stroke (months)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FAC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Assisted Device or Brace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5734974"/>
                  </a:ext>
                </a:extLst>
              </a:tr>
              <a:tr h="66144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b="1" kern="100" dirty="0">
                          <a:effectLst/>
                        </a:rPr>
                        <a:t>1</a:t>
                      </a:r>
                      <a:endParaRPr lang="en-US" sz="36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41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Male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14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5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None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5157254"/>
                  </a:ext>
                </a:extLst>
              </a:tr>
              <a:tr h="78709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b="1" kern="100" dirty="0">
                          <a:effectLst/>
                        </a:rPr>
                        <a:t>2</a:t>
                      </a:r>
                      <a:endParaRPr lang="en-US" sz="36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56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Male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29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5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Brace in the R ankle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8462594"/>
                  </a:ext>
                </a:extLst>
              </a:tr>
              <a:tr h="66144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b="1" kern="100">
                          <a:effectLst/>
                        </a:rPr>
                        <a:t>3</a:t>
                      </a:r>
                      <a:endParaRPr lang="en-US" sz="36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73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Male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192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5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Cane &amp; walker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88060264"/>
                  </a:ext>
                </a:extLst>
              </a:tr>
              <a:tr h="78709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b="1" kern="100" dirty="0">
                          <a:effectLst/>
                        </a:rPr>
                        <a:t>4</a:t>
                      </a:r>
                      <a:endParaRPr lang="en-US" sz="36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52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Female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47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5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None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29116502"/>
                  </a:ext>
                </a:extLst>
              </a:tr>
              <a:tr h="78709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b="1" kern="100" dirty="0">
                          <a:effectLst/>
                        </a:rPr>
                        <a:t>Mean (</a:t>
                      </a:r>
                      <a:r>
                        <a:rPr lang="en-US" sz="3600" b="1" u="sng" kern="100" dirty="0">
                          <a:effectLst/>
                        </a:rPr>
                        <a:t>+</a:t>
                      </a:r>
                      <a:r>
                        <a:rPr lang="en-US" sz="3600" b="1" kern="100" dirty="0">
                          <a:effectLst/>
                        </a:rPr>
                        <a:t> SD)</a:t>
                      </a:r>
                      <a:endParaRPr lang="en-US" sz="36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>
                          <a:effectLst/>
                        </a:rPr>
                        <a:t>56</a:t>
                      </a:r>
                      <a:r>
                        <a:rPr lang="en-US" sz="3600" u="sng" kern="100">
                          <a:effectLst/>
                        </a:rPr>
                        <a:t>+</a:t>
                      </a:r>
                      <a:r>
                        <a:rPr lang="en-US" sz="3600" kern="100">
                          <a:effectLst/>
                        </a:rPr>
                        <a:t>13</a:t>
                      </a:r>
                      <a:endParaRPr lang="en-US" sz="3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3M/1F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71</a:t>
                      </a:r>
                      <a:r>
                        <a:rPr lang="en-US" sz="3600" u="sng" kern="100" dirty="0">
                          <a:effectLst/>
                        </a:rPr>
                        <a:t>+</a:t>
                      </a:r>
                      <a:r>
                        <a:rPr lang="en-US" sz="3600" kern="100" dirty="0">
                          <a:effectLst/>
                        </a:rPr>
                        <a:t>79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5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600" kern="100" dirty="0">
                          <a:effectLst/>
                        </a:rPr>
                        <a:t>-</a:t>
                      </a:r>
                      <a:endParaRPr lang="en-US" sz="3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945814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C721E1E5-E3F2-1226-3F95-F5C6E188CE2D}"/>
              </a:ext>
            </a:extLst>
          </p:cNvPr>
          <p:cNvSpPr txBox="1"/>
          <p:nvPr/>
        </p:nvSpPr>
        <p:spPr>
          <a:xfrm>
            <a:off x="11050447" y="24481263"/>
            <a:ext cx="200525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Table1: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Participant Characteristics; FAC: Functional ambulation Category: score 5 (Fully independent ambulator), SD: Standard deviation R: right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69E6A4-40B9-66CB-5F91-C950095EF2CC}"/>
              </a:ext>
            </a:extLst>
          </p:cNvPr>
          <p:cNvSpPr txBox="1"/>
          <p:nvPr/>
        </p:nvSpPr>
        <p:spPr>
          <a:xfrm>
            <a:off x="30026854" y="10416042"/>
            <a:ext cx="2282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Created using Biorender.com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BB7F75-6FF1-CBE1-9DF2-BADFD4C5ED28}"/>
              </a:ext>
            </a:extLst>
          </p:cNvPr>
          <p:cNvSpPr txBox="1"/>
          <p:nvPr/>
        </p:nvSpPr>
        <p:spPr>
          <a:xfrm>
            <a:off x="10940052" y="25603200"/>
            <a:ext cx="20580315" cy="643987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B23572F-7076-04E3-77C9-96F80D3B1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231415"/>
              </p:ext>
            </p:extLst>
          </p:nvPr>
        </p:nvGraphicFramePr>
        <p:xfrm>
          <a:off x="11050447" y="25710334"/>
          <a:ext cx="20402227" cy="5747273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2466697">
                  <a:extLst>
                    <a:ext uri="{9D8B030D-6E8A-4147-A177-3AD203B41FA5}">
                      <a16:colId xmlns:a16="http://schemas.microsoft.com/office/drawing/2014/main" val="1508538646"/>
                    </a:ext>
                  </a:extLst>
                </a:gridCol>
                <a:gridCol w="3043204">
                  <a:extLst>
                    <a:ext uri="{9D8B030D-6E8A-4147-A177-3AD203B41FA5}">
                      <a16:colId xmlns:a16="http://schemas.microsoft.com/office/drawing/2014/main" val="2520592577"/>
                    </a:ext>
                  </a:extLst>
                </a:gridCol>
                <a:gridCol w="2589558">
                  <a:extLst>
                    <a:ext uri="{9D8B030D-6E8A-4147-A177-3AD203B41FA5}">
                      <a16:colId xmlns:a16="http://schemas.microsoft.com/office/drawing/2014/main" val="3121411944"/>
                    </a:ext>
                  </a:extLst>
                </a:gridCol>
                <a:gridCol w="2733687">
                  <a:extLst>
                    <a:ext uri="{9D8B030D-6E8A-4147-A177-3AD203B41FA5}">
                      <a16:colId xmlns:a16="http://schemas.microsoft.com/office/drawing/2014/main" val="3921935801"/>
                    </a:ext>
                  </a:extLst>
                </a:gridCol>
                <a:gridCol w="3189694">
                  <a:extLst>
                    <a:ext uri="{9D8B030D-6E8A-4147-A177-3AD203B41FA5}">
                      <a16:colId xmlns:a16="http://schemas.microsoft.com/office/drawing/2014/main" val="3943309235"/>
                    </a:ext>
                  </a:extLst>
                </a:gridCol>
                <a:gridCol w="3402339">
                  <a:extLst>
                    <a:ext uri="{9D8B030D-6E8A-4147-A177-3AD203B41FA5}">
                      <a16:colId xmlns:a16="http://schemas.microsoft.com/office/drawing/2014/main" val="3906170019"/>
                    </a:ext>
                  </a:extLst>
                </a:gridCol>
                <a:gridCol w="2977048">
                  <a:extLst>
                    <a:ext uri="{9D8B030D-6E8A-4147-A177-3AD203B41FA5}">
                      <a16:colId xmlns:a16="http://schemas.microsoft.com/office/drawing/2014/main" val="55385179"/>
                    </a:ext>
                  </a:extLst>
                </a:gridCol>
              </a:tblGrid>
              <a:tr h="211596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 dirty="0">
                          <a:effectLst/>
                        </a:rPr>
                        <a:t>Participant ID</a:t>
                      </a:r>
                      <a:endParaRPr lang="en-US" sz="3200" kern="100" dirty="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 dirty="0">
                          <a:effectLst/>
                        </a:rPr>
                        <a:t>Light-intensity</a:t>
                      </a:r>
                      <a:endParaRPr lang="en-US" sz="3200" kern="100" dirty="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3200" kern="0" dirty="0">
                          <a:effectLst/>
                        </a:rPr>
                        <a:t>Home</a:t>
                      </a:r>
                      <a:endParaRPr lang="en-US" sz="3200" kern="100" dirty="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3200" kern="0" dirty="0">
                          <a:effectLst/>
                        </a:rPr>
                        <a:t>(min)</a:t>
                      </a:r>
                      <a:endParaRPr lang="en-US" sz="3200" kern="100" dirty="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Light-intensity Community</a:t>
                      </a:r>
                      <a:endParaRPr lang="en-US" sz="3200" kern="1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(min)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Moderate-intensity Home</a:t>
                      </a:r>
                      <a:endParaRPr lang="en-US" sz="3200" kern="1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(min)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 dirty="0">
                          <a:effectLst/>
                        </a:rPr>
                        <a:t>Moderate-intensity</a:t>
                      </a:r>
                      <a:endParaRPr lang="en-US" sz="3200" kern="100" dirty="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3200" kern="0" dirty="0">
                          <a:effectLst/>
                        </a:rPr>
                        <a:t>Community</a:t>
                      </a:r>
                      <a:endParaRPr lang="en-US" sz="3200" kern="100" dirty="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3200" kern="0" dirty="0">
                          <a:effectLst/>
                        </a:rPr>
                        <a:t>(min)</a:t>
                      </a:r>
                      <a:endParaRPr lang="en-US" sz="3200" kern="100" dirty="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Vigorous-intensity</a:t>
                      </a:r>
                      <a:endParaRPr lang="en-US" sz="3200" kern="1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Home</a:t>
                      </a:r>
                      <a:endParaRPr lang="en-US" sz="3200" kern="1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(min)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 dirty="0">
                          <a:effectLst/>
                        </a:rPr>
                        <a:t>Vigorous-intensity</a:t>
                      </a:r>
                      <a:endParaRPr lang="en-US" sz="3200" kern="100" dirty="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3200" kern="0" dirty="0">
                          <a:effectLst/>
                        </a:rPr>
                        <a:t>Community</a:t>
                      </a:r>
                      <a:endParaRPr lang="en-US" sz="3200" kern="100" dirty="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3200" kern="0" dirty="0">
                          <a:effectLst/>
                        </a:rPr>
                        <a:t>(min)</a:t>
                      </a:r>
                      <a:endParaRPr lang="en-US" sz="3200" kern="100" dirty="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34620029"/>
                  </a:ext>
                </a:extLst>
              </a:tr>
              <a:tr h="76042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1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7.17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845.17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0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0.17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0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 dirty="0">
                          <a:effectLst/>
                        </a:rPr>
                        <a:t>0</a:t>
                      </a:r>
                      <a:endParaRPr lang="en-US" sz="3200" kern="100" dirty="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52657186"/>
                  </a:ext>
                </a:extLst>
              </a:tr>
              <a:tr h="86787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2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 dirty="0">
                          <a:effectLst/>
                        </a:rPr>
                        <a:t>557.17</a:t>
                      </a:r>
                      <a:endParaRPr lang="en-US" sz="3200" kern="100" dirty="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0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0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0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0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 dirty="0">
                          <a:effectLst/>
                        </a:rPr>
                        <a:t>0</a:t>
                      </a:r>
                      <a:endParaRPr lang="en-US" sz="3200" kern="100" dirty="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93508786"/>
                  </a:ext>
                </a:extLst>
              </a:tr>
              <a:tr h="86787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3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472.67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27.5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0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0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0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 dirty="0">
                          <a:effectLst/>
                        </a:rPr>
                        <a:t>0</a:t>
                      </a:r>
                      <a:endParaRPr lang="en-US" sz="3200" kern="100" dirty="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037734"/>
                  </a:ext>
                </a:extLst>
              </a:tr>
              <a:tr h="56756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4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1322.17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943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1.83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3.17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0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0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8327399"/>
                  </a:ext>
                </a:extLst>
              </a:tr>
              <a:tr h="56756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 dirty="0">
                          <a:effectLst/>
                        </a:rPr>
                        <a:t>Mean (</a:t>
                      </a:r>
                      <a:r>
                        <a:rPr lang="en-US" sz="3200" u="sng" kern="0" dirty="0">
                          <a:effectLst/>
                        </a:rPr>
                        <a:t>+</a:t>
                      </a:r>
                      <a:r>
                        <a:rPr lang="en-US" sz="3200" kern="0" dirty="0">
                          <a:effectLst/>
                        </a:rPr>
                        <a:t>SD)</a:t>
                      </a:r>
                      <a:endParaRPr lang="en-US" sz="3200" kern="100" dirty="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589.8</a:t>
                      </a:r>
                      <a:r>
                        <a:rPr lang="en-US" sz="3200" u="sng" kern="0">
                          <a:effectLst/>
                        </a:rPr>
                        <a:t>+</a:t>
                      </a:r>
                      <a:r>
                        <a:rPr lang="en-US" sz="3200" kern="0">
                          <a:effectLst/>
                        </a:rPr>
                        <a:t> 544.9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453.9 </a:t>
                      </a:r>
                      <a:r>
                        <a:rPr lang="en-US" sz="3200" u="sng" kern="0">
                          <a:effectLst/>
                        </a:rPr>
                        <a:t>+</a:t>
                      </a:r>
                      <a:r>
                        <a:rPr lang="en-US" sz="3200" kern="0">
                          <a:effectLst/>
                        </a:rPr>
                        <a:t> 510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0.46</a:t>
                      </a:r>
                      <a:r>
                        <a:rPr lang="en-US" sz="3200" u="sng" kern="0">
                          <a:effectLst/>
                        </a:rPr>
                        <a:t>+</a:t>
                      </a:r>
                      <a:r>
                        <a:rPr lang="en-US" sz="3200" kern="0">
                          <a:effectLst/>
                        </a:rPr>
                        <a:t>0.92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0.83</a:t>
                      </a:r>
                      <a:r>
                        <a:rPr lang="en-US" sz="3200" u="sng" kern="0">
                          <a:effectLst/>
                        </a:rPr>
                        <a:t>+</a:t>
                      </a:r>
                      <a:r>
                        <a:rPr lang="en-US" sz="3200" kern="0">
                          <a:effectLst/>
                        </a:rPr>
                        <a:t>1.56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>
                          <a:effectLst/>
                        </a:rPr>
                        <a:t>0</a:t>
                      </a:r>
                      <a:r>
                        <a:rPr lang="en-US" sz="3200" u="sng" kern="0">
                          <a:effectLst/>
                        </a:rPr>
                        <a:t>+</a:t>
                      </a:r>
                      <a:r>
                        <a:rPr lang="en-US" sz="3200" kern="0">
                          <a:effectLst/>
                        </a:rPr>
                        <a:t>0</a:t>
                      </a:r>
                      <a:endParaRPr lang="en-US" sz="3200" kern="10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3200" kern="0" dirty="0">
                          <a:effectLst/>
                        </a:rPr>
                        <a:t>0</a:t>
                      </a:r>
                      <a:r>
                        <a:rPr lang="en-US" sz="3200" u="sng" kern="0" dirty="0">
                          <a:effectLst/>
                        </a:rPr>
                        <a:t>+</a:t>
                      </a:r>
                      <a:r>
                        <a:rPr lang="en-US" sz="3200" kern="0" dirty="0">
                          <a:effectLst/>
                        </a:rPr>
                        <a:t>0</a:t>
                      </a:r>
                      <a:endParaRPr lang="en-US" sz="3200" kern="100" dirty="0">
                        <a:solidFill>
                          <a:srgbClr val="BF4E14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22407534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184106FB-B634-0E14-7706-E0C407A33030}"/>
              </a:ext>
            </a:extLst>
          </p:cNvPr>
          <p:cNvSpPr txBox="1"/>
          <p:nvPr/>
        </p:nvSpPr>
        <p:spPr>
          <a:xfrm>
            <a:off x="10952569" y="31561079"/>
            <a:ext cx="16009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able 2: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Time spent at various PA intensity in the home and community buffers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94248EE8-0AF7-E231-20F2-122950C710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157393" y="25666702"/>
            <a:ext cx="1709609" cy="170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90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05BB23-1288-C9B0-C608-2E4F04E1FC91}"/>
              </a:ext>
            </a:extLst>
          </p:cNvPr>
          <p:cNvSpPr txBox="1"/>
          <p:nvPr/>
        </p:nvSpPr>
        <p:spPr>
          <a:xfrm>
            <a:off x="10972800" y="16274534"/>
            <a:ext cx="2194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972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948</TotalTime>
  <Words>771</Words>
  <Application>Microsoft Macintosh PowerPoint</Application>
  <PresentationFormat>Custom</PresentationFormat>
  <Paragraphs>153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 Balakrishnan (she/her)</dc:creator>
  <cp:lastModifiedBy>Swapna Balakrishnan (she/her)</cp:lastModifiedBy>
  <cp:revision>5</cp:revision>
  <dcterms:created xsi:type="dcterms:W3CDTF">2026-04-30T17:11:24Z</dcterms:created>
  <dcterms:modified xsi:type="dcterms:W3CDTF">2026-05-05T16:58:31Z</dcterms:modified>
</cp:coreProperties>
</file>